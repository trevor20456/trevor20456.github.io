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01bd453ab4f89" /><Relationship Type="http://schemas.openxmlformats.org/officeDocument/2006/relationships/extended-properties" Target="/docProps/app.xml" Id="Rf30c03b6d9514cca" /><Relationship Type="http://schemas.openxmlformats.org/officeDocument/2006/relationships/officeDocument" Target="/ppt/presentation.xml" Id="Rcf84842ad822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e22e2a5174737"/>
  </p:sldMasterIdLst>
  <p:notesMasterIdLst>
    <p:notesMasterId xmlns:r="http://schemas.openxmlformats.org/officeDocument/2006/relationships" r:id="R793e39bbf8a74526"/>
  </p:notesMasterIdLst>
  <p:sldIdLst>
    <p:sldId xmlns:r="http://schemas.openxmlformats.org/officeDocument/2006/relationships" id="256" r:id="Rd79faa19c48641df"/>
    <p:sldId xmlns:r="http://schemas.openxmlformats.org/officeDocument/2006/relationships" id="257" r:id="Rfd0e28b114e34778"/>
    <p:sldId xmlns:r="http://schemas.openxmlformats.org/officeDocument/2006/relationships" id="258" r:id="Re3599178f7e24add"/>
    <p:sldId xmlns:r="http://schemas.openxmlformats.org/officeDocument/2006/relationships" id="259" r:id="Ra88db59351314833"/>
    <p:sldId xmlns:r="http://schemas.openxmlformats.org/officeDocument/2006/relationships" id="260" r:id="R650a72848ec0470e"/>
    <p:sldId xmlns:r="http://schemas.openxmlformats.org/officeDocument/2006/relationships" id="261" r:id="Rc0ef0262ddb947e6"/>
    <p:sldId xmlns:r="http://schemas.openxmlformats.org/officeDocument/2006/relationships" id="262" r:id="Rf07656efe24949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22a0c834e423a" /><Relationship Type="http://schemas.openxmlformats.org/officeDocument/2006/relationships/slideMaster" Target="/ppt/slideMasters/slideMaster1.xml" Id="R42de22e2a5174737" /><Relationship Type="http://schemas.openxmlformats.org/officeDocument/2006/relationships/notesMaster" Target="/ppt/notesMasters/notesMaster1.xml" Id="R793e39bbf8a74526" /><Relationship Type="http://schemas.openxmlformats.org/officeDocument/2006/relationships/presProps" Target="/ppt/presProps.xml" Id="R278868615bb14eb9" /><Relationship Type="http://schemas.openxmlformats.org/officeDocument/2006/relationships/tableStyles" Target="/ppt/tableStyles.xml" Id="R74eaca92d55f44e4" /><Relationship Type="http://schemas.openxmlformats.org/officeDocument/2006/relationships/slide" Target="/ppt/slides/slide1.xml" Id="Rd79faa19c48641df" /><Relationship Type="http://schemas.openxmlformats.org/officeDocument/2006/relationships/slide" Target="/ppt/slides/slide2.xml" Id="Rfd0e28b114e34778" /><Relationship Type="http://schemas.openxmlformats.org/officeDocument/2006/relationships/slide" Target="/ppt/slides/slide3.xml" Id="Re3599178f7e24add" /><Relationship Type="http://schemas.openxmlformats.org/officeDocument/2006/relationships/slide" Target="/ppt/slides/slide4.xml" Id="Ra88db59351314833" /><Relationship Type="http://schemas.openxmlformats.org/officeDocument/2006/relationships/slide" Target="/ppt/slides/slide5.xml" Id="R650a72848ec0470e" /><Relationship Type="http://schemas.openxmlformats.org/officeDocument/2006/relationships/slide" Target="/ppt/slides/slide6.xml" Id="Rc0ef0262ddb947e6" /><Relationship Type="http://schemas.openxmlformats.org/officeDocument/2006/relationships/slide" Target="/ppt/slides/slide7.xml" Id="Rf07656efe249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9ba8a8aa4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87ef6786fe42c4" /><Relationship Type="http://schemas.openxmlformats.org/officeDocument/2006/relationships/notesMaster" Target="/ppt/notesMasters/notesMaster1.xml" Id="R4dca14a56e86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4104c90ae40c3" /><Relationship Type="http://schemas.openxmlformats.org/officeDocument/2006/relationships/notesMaster" Target="/ppt/notesMasters/notesMaster1.xml" Id="R7e542f4a56ce40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50b2509a64c18" /><Relationship Type="http://schemas.openxmlformats.org/officeDocument/2006/relationships/notesMaster" Target="/ppt/notesMasters/notesMaster1.xml" Id="Rf8af9e2736d148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103fe871014fab" /><Relationship Type="http://schemas.openxmlformats.org/officeDocument/2006/relationships/notesMaster" Target="/ppt/notesMasters/notesMaster1.xml" Id="R06a5463e2757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a65239202c4891" /><Relationship Type="http://schemas.openxmlformats.org/officeDocument/2006/relationships/notesMaster" Target="/ppt/notesMasters/notesMaster1.xml" Id="Rcd2a8e0e6f85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531afd9834c3b" /><Relationship Type="http://schemas.openxmlformats.org/officeDocument/2006/relationships/notesMaster" Target="/ppt/notesMasters/notesMaster1.xml" Id="R549f56f1954344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babeebbb4b48a6" /><Relationship Type="http://schemas.openxmlformats.org/officeDocument/2006/relationships/notesMaster" Target="/ppt/notesMasters/notesMaster1.xml" Id="Rc52b055d536c43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this informal professional development, I selected three recorded National Archives webinars about using primary sources in secondary U.S. history and government.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first planned Code.org's AI 101, then found the National Archives' free educator webinar archive while searching for social studies professional development. I switched because it fits the five courses I will teach at Trona. My goals were to make source analysis manageable across grades seven through twelve, find ready-to-use U.S. history and government activities, and evaluate DocsTeach as a low-prep inquiry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normal speed, the three recordings totaled two hours, nine minutes, and twenty-two seconds. National Archives and presidential-library educators combined expert presentation, guided analysis of specific records, and demonstrations of DocsTeach activities. I took notes and followed the prompts during playback, so the viewing exceeded the assignment's two-hour minimum.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Live-chat participation was not possible with recordings. To stay active, I paused before explanations and answered the presenters' prompts. I used the Archives' four-step analysis framework, compared private memos with public statements, matched cartoons to constitutional language, and reviewed the teacher directions in DocsTeach.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ideas stood out. Political cartoons make abstract constitutional principles visible. The Vietnam records showed policy developing through cumulative, contested choices across administrations. Pairing a private memo with a public statement also gives students a concrete way to analyze audience, purpose, omissions, and competing perspectives.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government, I can begin with a cartoon, ask students to infer a constitutional principle, and require evidence from the document. In U.S. history, students can recommend an action at a Vietnam decision point before learning the outcome. For eighth grade, I can use fewer sources and the novice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benefits were choice, flexibility, and immediate classroom relevance. Challenges included no live feedback, passive-viewing risk, and too many resources to sort through. Overall, the experience reinforced my research finding: effective technology professional development is content-specific, practical, and tied to implementation. The recordings lacked the ongoing collaboration and follow-up support that help teachers apply new ideas.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cc0c46b0d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352f33ce54dff" /><Relationship Type="http://schemas.openxmlformats.org/officeDocument/2006/relationships/slideLayout" Target="/ppt/slideLayouts/slideLayout1.xml" Id="Rae3179c4d8e74d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179c4d8e74d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4cc787cc9452c" /><Relationship Type="http://schemas.openxmlformats.org/officeDocument/2006/relationships/image" Target="/ppt/media/image.jpeg" Id="R85118af9e7bb429c" /><Relationship Type="http://schemas.openxmlformats.org/officeDocument/2006/relationships/image" Target="/ppt/media/image2.jpeg" Id="R8056fa69417f4852" /><Relationship Type="http://schemas.openxmlformats.org/officeDocument/2006/relationships/notesSlide" Target="/ppt/notesSlides/notesSlide1.xml" Id="Raaf7ebc9be1c40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b93bab1e84ae0" /><Relationship Type="http://schemas.openxmlformats.org/officeDocument/2006/relationships/hyperlink" Target="https://www.archives.gov/education/distance-learning/professional-development" TargetMode="External" Id="Rcce4cce1761844d4" /><Relationship Type="http://schemas.openxmlformats.org/officeDocument/2006/relationships/notesSlide" Target="/ppt/notesSlides/notesSlide2.xml" Id="Rca0dc224e963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35b9a69147b6" /><Relationship Type="http://schemas.openxmlformats.org/officeDocument/2006/relationships/image" Target="/ppt/media/image3.jpeg" Id="Rfa975578aa17403a" /><Relationship Type="http://schemas.openxmlformats.org/officeDocument/2006/relationships/image" Target="/ppt/media/image4.jpeg" Id="Raee8e235277a40ad" /><Relationship Type="http://schemas.openxmlformats.org/officeDocument/2006/relationships/image" Target="/ppt/media/image5.jpeg" Id="R4a99ac31ca2841a7" /><Relationship Type="http://schemas.openxmlformats.org/officeDocument/2006/relationships/hyperlink" Target="https://www.youtube.com/watch?v=JTrbO0mT0rU" TargetMode="External" Id="R3e03697dc2054633" /><Relationship Type="http://schemas.openxmlformats.org/officeDocument/2006/relationships/hyperlink" Target="https://www.youtube.com/watch?v=4w90gqOWZcU" TargetMode="External" Id="R6b5209f047764452" /><Relationship Type="http://schemas.openxmlformats.org/officeDocument/2006/relationships/hyperlink" Target="https://www.youtube.com/watch?v=ItDwOHufCwM" TargetMode="External" Id="Re34eb8d5a7064515" /><Relationship Type="http://schemas.openxmlformats.org/officeDocument/2006/relationships/notesSlide" Target="/ppt/notesSlides/notesSlide3.xml" Id="R60e293110acb46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37577f2ff4775" /><Relationship Type="http://schemas.openxmlformats.org/officeDocument/2006/relationships/image" Target="/ppt/media/image6.jpeg" Id="Rfac3185bfc604709" /><Relationship Type="http://schemas.openxmlformats.org/officeDocument/2006/relationships/hyperlink" Target="https://www.docsteach.org/" TargetMode="External" Id="Re3a1cbf258e24011" /><Relationship Type="http://schemas.openxmlformats.org/officeDocument/2006/relationships/notesSlide" Target="/ppt/notesSlides/notesSlide4.xml" Id="R6ddf29e33e26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48768e654502" /><Relationship Type="http://schemas.openxmlformats.org/officeDocument/2006/relationships/hyperlink" Target="https://www.archives.gov/education/distance-learning/professional-development" TargetMode="External" Id="R9a3c0d9bf10941be" /><Relationship Type="http://schemas.openxmlformats.org/officeDocument/2006/relationships/notesSlide" Target="/ppt/notesSlides/notesSlide5.xml" Id="R3c67a23297594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97210d7424f39" /><Relationship Type="http://schemas.openxmlformats.org/officeDocument/2006/relationships/hyperlink" Target="https://www.archives.gov/education/lessons/vietnam-photos" TargetMode="External" Id="R68df1f6fb7594d46" /><Relationship Type="http://schemas.openxmlformats.org/officeDocument/2006/relationships/notesSlide" Target="/ppt/notesSlides/notesSlide6.xml" Id="R8fbb24a2e6dd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71958fae54ca9" /><Relationship Type="http://schemas.openxmlformats.org/officeDocument/2006/relationships/hyperlink" Target="https://www.archives.gov/education/distance-learning/professional-development" TargetMode="External" Id="R01ed77a4a82b434c" /><Relationship Type="http://schemas.openxmlformats.org/officeDocument/2006/relationships/notesSlide" Target="/ppt/notesSlides/notesSlide7.xml" Id="R15ddf99916484c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D720F636-C308-4553-BBE7-8BFCAF0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EDEL 522  |  WEB-BASED INFORMAL PROFESSIONAL DEVELOPMENT</a:t>
            </a:r>
          </a:p>
        </p:txBody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41F571D0-2F45-42F3-B182-7D3B59D2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581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Primary sources that make history visible</a:t>
            </a:r>
          </a:p>
        </p:txBody>
      </p:sp>
      <p:sp>
        <p:nvSpPr>
          <p:cNvPr id="3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DD44E994-CA56-421B-A140-B2C148C5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reflection on three National Archives educator webinars about the Constitution, Vietnam, and DocsTeach</a:t>
            </a:r>
          </a:p>
        </p:txBody>
      </p:sp>
      <p:sp>
        <p:nvSpPr>
          <p:cNvPr id="4" name="slide-1-accent-rule">
            <a:extLst xmlns:a="http://schemas.openxmlformats.org/drawingml/2006/main">
              <a:ext uri="{FF2B5EF4-FFF2-40B4-BE49-F238E27FC236}">
                <a16:creationId xmlns:a16="http://schemas.microsoft.com/office/drawing/2014/main" id="{A4ED6441-FB94-44D0-AD7D-38C2BD8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-author">
            <a:extLst xmlns:a="http://schemas.openxmlformats.org/drawingml/2006/main">
              <a:ext uri="{FF2B5EF4-FFF2-40B4-BE49-F238E27FC236}">
                <a16:creationId xmlns:a16="http://schemas.microsoft.com/office/drawing/2014/main" id="{003429EB-7652-4329-98A3-A89F5FA3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Trevor Arcadipane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Summer 2026</a:t>
            </a:r>
          </a:p>
        </p:txBody>
      </p:sp>
      <p:sp>
        <p:nvSpPr>
          <p:cNvPr id="6" name="slide-1-top-image-panel">
            <a:extLst xmlns:a="http://schemas.openxmlformats.org/drawingml/2006/main">
              <a:ext uri="{FF2B5EF4-FFF2-40B4-BE49-F238E27FC236}">
                <a16:creationId xmlns:a16="http://schemas.microsoft.com/office/drawing/2014/main" id="{CB606F2F-345C-43A3-A783-38274E4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"/>
            <a:ext cx="512445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18af9e7bb429c"/>
          <a:stretch xmlns:a="http://schemas.openxmlformats.org/drawingml/2006/main"/>
        </p:blipFill>
        <p:spPr>
          <a:xfrm xmlns:a="http://schemas.openxmlformats.org/drawingml/2006/main">
            <a:off x="7748776" y="533400"/>
            <a:ext cx="2618998" cy="26289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6fa69417f4852"/>
          <a:srcRect xmlns:a="http://schemas.openxmlformats.org/drawingml/2006/main" l="0" t="11836" r="0" b="11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3524250"/>
            <a:ext cx="51244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slide-1-image-caption">
            <a:extLst xmlns:a="http://schemas.openxmlformats.org/drawingml/2006/main">
              <a:ext uri="{FF2B5EF4-FFF2-40B4-BE49-F238E27FC236}">
                <a16:creationId xmlns:a16="http://schemas.microsoft.com/office/drawing/2014/main" id="{479CB512-01BA-44AE-8AB0-D7A0418C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15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National Archives educator resources</a:t>
            </a:r>
          </a:p>
        </p:txBody>
      </p:sp>
      <p:sp>
        <p:nvSpPr>
          <p:cNvPr id="10" name="slide-1-page-number">
            <a:extLst xmlns:a="http://schemas.openxmlformats.org/drawingml/2006/main">
              <a:ext uri="{FF2B5EF4-FFF2-40B4-BE49-F238E27FC236}">
                <a16:creationId xmlns:a16="http://schemas.microsoft.com/office/drawing/2014/main" id="{AB507800-722C-4221-B8D0-DC7335C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9555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216C6A5-A445-47BA-904D-14AC528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 changed plans to match the classroom I am entering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764E4EFB-826F-4380-9EEA-204154F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explanation">
            <a:extLst xmlns:a="http://schemas.openxmlformats.org/drawingml/2006/main">
              <a:ext uri="{FF2B5EF4-FFF2-40B4-BE49-F238E27FC236}">
                <a16:creationId xmlns:a16="http://schemas.microsoft.com/office/drawing/2014/main" id="{676E4CA4-26DA-40AB-ABCF-4371457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71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originally planned to complete Code.org's AI 101. While continuing to explore options, I found the National Archives' free educator webinar archive and switched because it connects more directly to my new 7-12 social science assignment at Trona High School.</a:t>
            </a:r>
          </a:p>
        </p:txBody>
      </p:sp>
      <p:sp>
        <p:nvSpPr>
          <p:cNvPr id="4" name="slide-2-found-label">
            <a:extLst xmlns:a="http://schemas.openxmlformats.org/drawingml/2006/main">
              <a:ext uri="{FF2B5EF4-FFF2-40B4-BE49-F238E27FC236}">
                <a16:creationId xmlns:a16="http://schemas.microsoft.com/office/drawing/2014/main" id="{5C748FF5-0CAC-4BAB-8FF2-610CAC2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HOW I FOUND IT</a:t>
            </a:r>
          </a:p>
        </p:txBody>
      </p:sp>
      <p:sp>
        <p:nvSpPr>
          <p:cNvPr id="5" name="slide-2-found-copy">
            <a:extLst xmlns:a="http://schemas.openxmlformats.org/drawingml/2006/main">
              <a:ext uri="{FF2B5EF4-FFF2-40B4-BE49-F238E27FC236}">
                <a16:creationId xmlns:a16="http://schemas.microsoft.com/office/drawing/2014/main" id="{7D1B5D64-9C39-4C9C-A658-CD0C710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search for free, self-directed social studies PD led to the National Archives educator webinar page.</a:t>
            </a:r>
          </a:p>
        </p:txBody>
      </p:sp>
      <p:sp>
        <p:nvSpPr>
          <p:cNvPr id="6" name="slide-2-goal-panel-1">
            <a:extLst xmlns:a="http://schemas.openxmlformats.org/drawingml/2006/main">
              <a:ext uri="{FF2B5EF4-FFF2-40B4-BE49-F238E27FC236}">
                <a16:creationId xmlns:a16="http://schemas.microsoft.com/office/drawing/2014/main" id="{1EC2F65E-B10C-440A-8927-D2B88537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5105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2-goal-number-1">
            <a:extLst xmlns:a="http://schemas.openxmlformats.org/drawingml/2006/main">
              <a:ext uri="{FF2B5EF4-FFF2-40B4-BE49-F238E27FC236}">
                <a16:creationId xmlns:a16="http://schemas.microsoft.com/office/drawing/2014/main" id="{9FF0021A-F7E5-4C05-83B7-506222A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lide-2-goal-copy-1">
            <a:extLst xmlns:a="http://schemas.openxmlformats.org/drawingml/2006/main">
              <a:ext uri="{FF2B5EF4-FFF2-40B4-BE49-F238E27FC236}">
                <a16:creationId xmlns:a16="http://schemas.microsoft.com/office/drawing/2014/main" id="{8D79644D-04C7-4B9A-8BC6-895BE4C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3355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Make primary-source analysis manageable for grades 7-12.</a:t>
            </a:r>
          </a:p>
        </p:txBody>
      </p:sp>
      <p:sp>
        <p:nvSpPr>
          <p:cNvPr id="9" name="slide-2-goal-panel-2">
            <a:extLst xmlns:a="http://schemas.openxmlformats.org/drawingml/2006/main">
              <a:ext uri="{FF2B5EF4-FFF2-40B4-BE49-F238E27FC236}">
                <a16:creationId xmlns:a16="http://schemas.microsoft.com/office/drawing/2014/main" id="{2AB3B8CF-924D-457A-A144-CF119E7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5105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2-goal-number-2">
            <a:extLst xmlns:a="http://schemas.openxmlformats.org/drawingml/2006/main">
              <a:ext uri="{FF2B5EF4-FFF2-40B4-BE49-F238E27FC236}">
                <a16:creationId xmlns:a16="http://schemas.microsoft.com/office/drawing/2014/main" id="{5A310680-96A1-48CA-865B-702E554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lide-2-goal-copy-2">
            <a:extLst xmlns:a="http://schemas.openxmlformats.org/drawingml/2006/main">
              <a:ext uri="{FF2B5EF4-FFF2-40B4-BE49-F238E27FC236}">
                <a16:creationId xmlns:a16="http://schemas.microsoft.com/office/drawing/2014/main" id="{EC0C9B4C-B6F1-4FB5-811B-840EB58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6230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ready-to-use material for U.S. history and government.</a:t>
            </a:r>
          </a:p>
        </p:txBody>
      </p:sp>
      <p:sp>
        <p:nvSpPr>
          <p:cNvPr id="12" name="slide-2-goal-panel-3">
            <a:extLst xmlns:a="http://schemas.openxmlformats.org/drawingml/2006/main">
              <a:ext uri="{FF2B5EF4-FFF2-40B4-BE49-F238E27FC236}">
                <a16:creationId xmlns:a16="http://schemas.microsoft.com/office/drawing/2014/main" id="{78EC61FA-A153-474D-9D81-DB485A5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5105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2-goal-number-3">
            <a:extLst xmlns:a="http://schemas.openxmlformats.org/drawingml/2006/main">
              <a:ext uri="{FF2B5EF4-FFF2-40B4-BE49-F238E27FC236}">
                <a16:creationId xmlns:a16="http://schemas.microsoft.com/office/drawing/2014/main" id="{555D4034-35CF-4251-B712-65376B1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lide-2-goal-copy-3">
            <a:extLst xmlns:a="http://schemas.openxmlformats.org/drawingml/2006/main">
              <a:ext uri="{FF2B5EF4-FFF2-40B4-BE49-F238E27FC236}">
                <a16:creationId xmlns:a16="http://schemas.microsoft.com/office/drawing/2014/main" id="{E7EFB898-90EB-4C91-BC68-A348094B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9105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Evaluate DocsTeach as a practical, low-prep inquiry tool.</a:t>
            </a:r>
          </a:p>
        </p:txBody>
      </p:sp>
      <p:sp>
        <p:nvSpPr>
          <p:cNvPr id="15" name="slide-2-source-link">
            <a:extLst xmlns:a="http://schemas.openxmlformats.org/drawingml/2006/main">
              <a:ext uri="{FF2B5EF4-FFF2-40B4-BE49-F238E27FC236}">
                <a16:creationId xmlns:a16="http://schemas.microsoft.com/office/drawing/2014/main" id="{2879A27C-BC1C-457F-8BE8-6005745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cce4cce1761844d4"/>
              </a:rPr>
              <a:t>National Archives Professional Development Webinars</a:t>
            </a:r>
          </a:p>
        </p:txBody>
      </p:sp>
      <p:sp>
        <p:nvSpPr>
          <p:cNvPr id="16" name="slide-2-page-number">
            <a:extLst xmlns:a="http://schemas.openxmlformats.org/drawingml/2006/main">
              <a:ext uri="{FF2B5EF4-FFF2-40B4-BE49-F238E27FC236}">
                <a16:creationId xmlns:a16="http://schemas.microsoft.com/office/drawing/2014/main" id="{76D3F173-9932-43B5-A641-74F8B150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8555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23B52CB-F1B3-4DCF-9E96-801A392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Three recorded webinars met the two-hour requirement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5C37FEFD-6003-461B-AFEC-68F6ECAA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total-panel">
            <a:extLst xmlns:a="http://schemas.openxmlformats.org/drawingml/2006/main">
              <a:ext uri="{FF2B5EF4-FFF2-40B4-BE49-F238E27FC236}">
                <a16:creationId xmlns:a16="http://schemas.microsoft.com/office/drawing/2014/main" id="{F38E264D-877C-4699-8D1A-3E2D451D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00150"/>
            <a:ext cx="27241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total">
            <a:extLst xmlns:a="http://schemas.openxmlformats.org/drawingml/2006/main">
              <a:ext uri="{FF2B5EF4-FFF2-40B4-BE49-F238E27FC236}">
                <a16:creationId xmlns:a16="http://schemas.microsoft.com/office/drawing/2014/main" id="{CDEF9983-B95B-4111-B028-A27817C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620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2:09:22 total</a:t>
            </a:r>
          </a:p>
        </p:txBody>
      </p:sp>
      <p:sp>
        <p:nvSpPr>
          <p:cNvPr id="5" name="slide-3-format">
            <a:extLst xmlns:a="http://schemas.openxmlformats.org/drawingml/2006/main">
              <a:ext uri="{FF2B5EF4-FFF2-40B4-BE49-F238E27FC236}">
                <a16:creationId xmlns:a16="http://schemas.microsoft.com/office/drawing/2014/main" id="{6205D4E2-F5CB-45EE-A9E4-0967D98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Expert presentations + guided document analysis + DocsTeach demonstrations</a:t>
            </a:r>
          </a:p>
        </p:txBody>
      </p:sp>
      <p:sp>
        <p:nvSpPr>
          <p:cNvPr id="6" name="slide-3-image-panel-1">
            <a:extLst xmlns:a="http://schemas.openxmlformats.org/drawingml/2006/main">
              <a:ext uri="{FF2B5EF4-FFF2-40B4-BE49-F238E27FC236}">
                <a16:creationId xmlns:a16="http://schemas.microsoft.com/office/drawing/2014/main" id="{6E9EA433-00C3-48EA-97E5-446B04A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33600"/>
            <a:ext cx="33528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lide-3-image-panel-2">
            <a:extLst xmlns:a="http://schemas.openxmlformats.org/drawingml/2006/main">
              <a:ext uri="{FF2B5EF4-FFF2-40B4-BE49-F238E27FC236}">
                <a16:creationId xmlns:a16="http://schemas.microsoft.com/office/drawing/2014/main" id="{7285AA65-FD1F-4C2F-A770-54B585B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3528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lide-3-image-panel-3">
            <a:extLst xmlns:a="http://schemas.openxmlformats.org/drawingml/2006/main">
              <a:ext uri="{FF2B5EF4-FFF2-40B4-BE49-F238E27FC236}">
                <a16:creationId xmlns:a16="http://schemas.microsoft.com/office/drawing/2014/main" id="{5F32FE06-ED31-47C6-9CDF-996A355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3528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75578aa17403a"/>
          <a:stretch xmlns:a="http://schemas.openxmlformats.org/drawingml/2006/main"/>
        </p:blipFill>
        <p:spPr>
          <a:xfrm xmlns:a="http://schemas.openxmlformats.org/drawingml/2006/main">
            <a:off x="1165566" y="2228850"/>
            <a:ext cx="1859868" cy="1866900"/>
          </a:xfrm>
          <a:prstGeom xmlns:a="http://schemas.openxmlformats.org/drawingml/2006/main" prst="roundRect">
            <a:avLst>
              <a:gd name="adj" fmla="val 6122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8e235277a40ad"/>
          <a:srcRect xmlns:a="http://schemas.openxmlformats.org/drawingml/2006/main" l="0" t="5106" r="0" b="5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228850"/>
            <a:ext cx="3162300" cy="1866900"/>
          </a:xfrm>
          <a:prstGeom xmlns:a="http://schemas.openxmlformats.org/drawingml/2006/main" prst="roundRect">
            <a:avLst>
              <a:gd name="adj" fmla="val 6122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9ac31ca2841a7"/>
          <a:srcRect xmlns:a="http://schemas.openxmlformats.org/drawingml/2006/main" l="0" t="5106" r="0" b="5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228850"/>
            <a:ext cx="3162300" cy="1866900"/>
          </a:xfrm>
          <a:prstGeom xmlns:a="http://schemas.openxmlformats.org/drawingml/2006/main" prst="roundRect">
            <a:avLst>
              <a:gd name="adj" fmla="val 6122"/>
            </a:avLst>
          </a:prstGeom>
        </p:spPr>
      </p:pic>
      <p:sp>
        <p:nvSpPr>
          <p:cNvPr id="12" name="slide-3-session-title-1">
            <a:extLst xmlns:a="http://schemas.openxmlformats.org/drawingml/2006/main">
              <a:ext uri="{FF2B5EF4-FFF2-40B4-BE49-F238E27FC236}">
                <a16:creationId xmlns:a16="http://schemas.microsoft.com/office/drawing/2014/main" id="{B599E9FE-1DF7-40D1-B571-958B453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196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Teaching the Constitution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 Political Cartoons</a:t>
            </a:r>
          </a:p>
        </p:txBody>
      </p:sp>
      <p:sp>
        <p:nvSpPr>
          <p:cNvPr id="13" name="slide-3-session-time-1">
            <a:extLst xmlns:a="http://schemas.openxmlformats.org/drawingml/2006/main">
              <a:ext uri="{FF2B5EF4-FFF2-40B4-BE49-F238E27FC236}">
                <a16:creationId xmlns:a16="http://schemas.microsoft.com/office/drawing/2014/main" id="{5277737D-065F-4C35-9A1E-30FD254D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39:51</a:t>
            </a:r>
          </a:p>
        </p:txBody>
      </p:sp>
      <p:sp>
        <p:nvSpPr>
          <p:cNvPr id="14" name="slide-3-session-link-1">
            <a:extLst xmlns:a="http://schemas.openxmlformats.org/drawingml/2006/main">
              <a:ext uri="{FF2B5EF4-FFF2-40B4-BE49-F238E27FC236}">
                <a16:creationId xmlns:a16="http://schemas.microsoft.com/office/drawing/2014/main" id="{6ECC6391-A431-450A-83BB-F5C3734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3e03697dc2054633"/>
              </a:rPr>
              <a:t>Open Constitution webinar</a:t>
            </a:r>
          </a:p>
        </p:txBody>
      </p:sp>
      <p:sp>
        <p:nvSpPr>
          <p:cNvPr id="15" name="slide-3-session-title-2">
            <a:extLst xmlns:a="http://schemas.openxmlformats.org/drawingml/2006/main">
              <a:ext uri="{FF2B5EF4-FFF2-40B4-BE49-F238E27FC236}">
                <a16:creationId xmlns:a16="http://schemas.microsoft.com/office/drawing/2014/main" id="{783C8395-1E3A-4746-B085-37EF62E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196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Remembering Vietnam: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Road to War</a:t>
            </a:r>
          </a:p>
        </p:txBody>
      </p:sp>
      <p:sp>
        <p:nvSpPr>
          <p:cNvPr id="16" name="slide-3-session-time-2">
            <a:extLst xmlns:a="http://schemas.openxmlformats.org/drawingml/2006/main">
              <a:ext uri="{FF2B5EF4-FFF2-40B4-BE49-F238E27FC236}">
                <a16:creationId xmlns:a16="http://schemas.microsoft.com/office/drawing/2014/main" id="{0B1BD578-5F35-42FC-805A-79E339E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05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43:13</a:t>
            </a:r>
          </a:p>
        </p:txBody>
      </p:sp>
      <p:sp>
        <p:nvSpPr>
          <p:cNvPr id="17" name="slide-3-session-link-2">
            <a:extLst xmlns:a="http://schemas.openxmlformats.org/drawingml/2006/main">
              <a:ext uri="{FF2B5EF4-FFF2-40B4-BE49-F238E27FC236}">
                <a16:creationId xmlns:a16="http://schemas.microsoft.com/office/drawing/2014/main" id="{F4BD64AD-05BF-41CD-9DD3-1CE1019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6b5209f047764452"/>
              </a:rPr>
              <a:t>Open Road to War webinar</a:t>
            </a:r>
          </a:p>
        </p:txBody>
      </p:sp>
      <p:sp>
        <p:nvSpPr>
          <p:cNvPr id="18" name="slide-3-session-title-3">
            <a:extLst xmlns:a="http://schemas.openxmlformats.org/drawingml/2006/main">
              <a:ext uri="{FF2B5EF4-FFF2-40B4-BE49-F238E27FC236}">
                <a16:creationId xmlns:a16="http://schemas.microsoft.com/office/drawing/2014/main" id="{7DC9F483-B21F-451D-9A1E-AEDF487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Remembering Vietnam: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Road Through War</a:t>
            </a:r>
          </a:p>
        </p:txBody>
      </p:sp>
      <p:sp>
        <p:nvSpPr>
          <p:cNvPr id="19" name="slide-3-session-time-3">
            <a:extLst xmlns:a="http://schemas.openxmlformats.org/drawingml/2006/main">
              <a:ext uri="{FF2B5EF4-FFF2-40B4-BE49-F238E27FC236}">
                <a16:creationId xmlns:a16="http://schemas.microsoft.com/office/drawing/2014/main" id="{87E0E831-172E-4A00-AE69-0238208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46:18</a:t>
            </a:r>
          </a:p>
        </p:txBody>
      </p:sp>
      <p:sp>
        <p:nvSpPr>
          <p:cNvPr id="20" name="slide-3-session-link-3">
            <a:extLst xmlns:a="http://schemas.openxmlformats.org/drawingml/2006/main">
              <a:ext uri="{FF2B5EF4-FFF2-40B4-BE49-F238E27FC236}">
                <a16:creationId xmlns:a16="http://schemas.microsoft.com/office/drawing/2014/main" id="{17F898A4-1441-4AE3-B942-1B42B30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e34eb8d5a7064515"/>
              </a:rPr>
              <a:t>Open Road Through War webinar</a:t>
            </a:r>
          </a:p>
        </p:txBody>
      </p:sp>
      <p:sp>
        <p:nvSpPr>
          <p:cNvPr id="21" name="slide-3-time-note">
            <a:extLst xmlns:a="http://schemas.openxmlformats.org/drawingml/2006/main">
              <a:ext uri="{FF2B5EF4-FFF2-40B4-BE49-F238E27FC236}">
                <a16:creationId xmlns:a16="http://schemas.microsoft.com/office/drawing/2014/main" id="{00D09998-13AD-4180-B3D8-3684430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Viewed asynchronously at normal speed; note-taking occurred during playback.</a:t>
            </a:r>
          </a:p>
        </p:txBody>
      </p:sp>
      <p:sp>
        <p:nvSpPr>
          <p:cNvPr id="22" name="slide-3-page-number">
            <a:extLst xmlns:a="http://schemas.openxmlformats.org/drawingml/2006/main">
              <a:ext uri="{FF2B5EF4-FFF2-40B4-BE49-F238E27FC236}">
                <a16:creationId xmlns:a16="http://schemas.microsoft.com/office/drawing/2014/main" id="{BCCFF96B-6A78-48DB-A6E6-F322C128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9461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A3FDEFA-1DDB-45B1-9F6F-44288E27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Recorded did not have to mean passive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F6593C28-0837-4668-9768-E236FD62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intro">
            <a:extLst xmlns:a="http://schemas.openxmlformats.org/drawingml/2006/main">
              <a:ext uri="{FF2B5EF4-FFF2-40B4-BE49-F238E27FC236}">
                <a16:creationId xmlns:a16="http://schemas.microsoft.com/office/drawing/2014/main" id="{6ADB9A6B-E7A4-4016-B57D-26DA15E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 followed the presenters' questions instead of only listening.</a:t>
            </a:r>
          </a:p>
        </p:txBody>
      </p:sp>
      <p:sp>
        <p:nvSpPr>
          <p:cNvPr id="4" name="slide-4-participation-list">
            <a:extLst xmlns:a="http://schemas.openxmlformats.org/drawingml/2006/main">
              <a:ext uri="{FF2B5EF4-FFF2-40B4-BE49-F238E27FC236}">
                <a16:creationId xmlns:a16="http://schemas.microsoft.com/office/drawing/2014/main" id="{586BB089-2B6C-48D5-81FE-EE38E5B0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13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Paused before explanations and answered the presenter prompts.</a:t>
            </a:r>
          </a:p>
          <a:p xmlns:a="http://schemas.openxmlformats.org/drawingml/2006/main">
            <a:pPr marL="28" indent="-14">
              <a:spcAft>
                <a:spcPts val="13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Used the four steps: meet, observe, make sense, and use as evidence.</a:t>
            </a:r>
          </a:p>
          <a:p xmlns:a="http://schemas.openxmlformats.org/drawingml/2006/main">
            <a:pPr marL="28" indent="-14">
              <a:spcAft>
                <a:spcPts val="13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Compared private or secret memos with public statements.</a:t>
            </a:r>
          </a:p>
          <a:p xmlns:a="http://schemas.openxmlformats.org/drawingml/2006/main">
            <a:pPr marL="28" indent="-14">
              <a:spcAft>
                <a:spcPts val="13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Matched political cartoons to Constitution clauses and principles.</a:t>
            </a:r>
          </a:p>
          <a:p xmlns:a="http://schemas.openxmlformats.org/drawingml/2006/main">
            <a:pPr marL="28" indent="-14">
              <a:spcAft>
                <a:spcPts val="13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Reviewed DocsTeach activities, worksheets, and teacher supports.</a:t>
            </a:r>
          </a:p>
        </p:txBody>
      </p:sp>
      <p:sp>
        <p:nvSpPr>
          <p:cNvPr id="5" name="slide-4-image-panel">
            <a:extLst xmlns:a="http://schemas.openxmlformats.org/drawingml/2006/main">
              <a:ext uri="{FF2B5EF4-FFF2-40B4-BE49-F238E27FC236}">
                <a16:creationId xmlns:a16="http://schemas.microsoft.com/office/drawing/2014/main" id="{650C2927-BF1B-4728-8B0A-5E2B263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85900"/>
            <a:ext cx="43815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3185bfc604709"/>
          <a:stretch xmlns:a="http://schemas.openxmlformats.org/drawingml/2006/main"/>
        </p:blipFill>
        <p:spPr>
          <a:xfrm xmlns:a="http://schemas.openxmlformats.org/drawingml/2006/main">
            <a:off x="7461250" y="1638300"/>
            <a:ext cx="39370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7" name="slide-4-image-caption">
            <a:extLst xmlns:a="http://schemas.openxmlformats.org/drawingml/2006/main">
              <a:ext uri="{FF2B5EF4-FFF2-40B4-BE49-F238E27FC236}">
                <a16:creationId xmlns:a16="http://schemas.microsoft.com/office/drawing/2014/main" id="{2AB2E746-8DA4-4D06-A68E-3925CDA2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Example of the document-analysis activity format demonstrated in the webinars</a:t>
            </a:r>
          </a:p>
        </p:txBody>
      </p:sp>
      <p:sp>
        <p:nvSpPr>
          <p:cNvPr id="8" name="slide-4-asynchronous-note-panel">
            <a:extLst xmlns:a="http://schemas.openxmlformats.org/drawingml/2006/main">
              <a:ext uri="{FF2B5EF4-FFF2-40B4-BE49-F238E27FC236}">
                <a16:creationId xmlns:a16="http://schemas.microsoft.com/office/drawing/2014/main" id="{B8AAFA98-556B-468A-9728-9A45534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38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4-asynchronous-note">
            <a:extLst xmlns:a="http://schemas.openxmlformats.org/drawingml/2006/main">
              <a:ext uri="{FF2B5EF4-FFF2-40B4-BE49-F238E27FC236}">
                <a16:creationId xmlns:a16="http://schemas.microsoft.com/office/drawing/2014/main" id="{B32F5292-BC26-42D2-AC09-8D261E9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5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Live-chat contributions were not applicable because I used the recordings.</a:t>
            </a:r>
          </a:p>
        </p:txBody>
      </p:sp>
      <p:sp>
        <p:nvSpPr>
          <p:cNvPr id="10" name="slide-4-source-link">
            <a:extLst xmlns:a="http://schemas.openxmlformats.org/drawingml/2006/main">
              <a:ext uri="{FF2B5EF4-FFF2-40B4-BE49-F238E27FC236}">
                <a16:creationId xmlns:a16="http://schemas.microsoft.com/office/drawing/2014/main" id="{61541252-D1E4-4323-8C3E-253C396B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e3a1cbf258e24011"/>
              </a:rPr>
              <a:t>DocsTeach</a:t>
            </a:r>
          </a:p>
        </p:txBody>
      </p:sp>
      <p:sp>
        <p:nvSpPr>
          <p:cNvPr id="11" name="slide-4-page-number">
            <a:extLst xmlns:a="http://schemas.openxmlformats.org/drawingml/2006/main">
              <a:ext uri="{FF2B5EF4-FFF2-40B4-BE49-F238E27FC236}">
                <a16:creationId xmlns:a16="http://schemas.microsoft.com/office/drawing/2014/main" id="{9FE7F7AB-F88F-46B1-8D6D-A4432B2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31AF6A1-444A-4EBF-89D1-475303AC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strongest lessons came from pairing sources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2E00623B-6E4C-4675-A5BA-0D8178E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learning-number-1">
            <a:extLst xmlns:a="http://schemas.openxmlformats.org/drawingml/2006/main">
              <a:ext uri="{FF2B5EF4-FFF2-40B4-BE49-F238E27FC236}">
                <a16:creationId xmlns:a16="http://schemas.microsoft.com/office/drawing/2014/main" id="{2D405574-8F1D-4634-BC69-6588FE0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lide-5-learning-heading-1">
            <a:extLst xmlns:a="http://schemas.openxmlformats.org/drawingml/2006/main">
              <a:ext uri="{FF2B5EF4-FFF2-40B4-BE49-F238E27FC236}">
                <a16:creationId xmlns:a16="http://schemas.microsoft.com/office/drawing/2014/main" id="{2FBAA0C0-7EF4-49E9-9A0A-E92F558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Visual sources clarify abstract ideas</a:t>
            </a:r>
          </a:p>
        </p:txBody>
      </p:sp>
      <p:sp>
        <p:nvSpPr>
          <p:cNvPr id="5" name="slide-5-learning-body-1">
            <a:extLst xmlns:a="http://schemas.openxmlformats.org/drawingml/2006/main">
              <a:ext uri="{FF2B5EF4-FFF2-40B4-BE49-F238E27FC236}">
                <a16:creationId xmlns:a16="http://schemas.microsoft.com/office/drawing/2014/main" id="{48D85C79-966C-4874-A7F0-2E84A34E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333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Symbols, tone, and relationships in political cartoons made separation of powers and checks and balances visible rather than purely theoretical.</a:t>
            </a:r>
          </a:p>
        </p:txBody>
      </p:sp>
      <p:sp>
        <p:nvSpPr>
          <p:cNvPr id="6" name="slide-5-column-rule-1">
            <a:extLst xmlns:a="http://schemas.openxmlformats.org/drawingml/2006/main">
              <a:ext uri="{FF2B5EF4-FFF2-40B4-BE49-F238E27FC236}">
                <a16:creationId xmlns:a16="http://schemas.microsoft.com/office/drawing/2014/main" id="{74936B97-0FB3-4F07-9B40-8A665350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5-learning-number-2">
            <a:extLst xmlns:a="http://schemas.openxmlformats.org/drawingml/2006/main">
              <a:ext uri="{FF2B5EF4-FFF2-40B4-BE49-F238E27FC236}">
                <a16:creationId xmlns:a16="http://schemas.microsoft.com/office/drawing/2014/main" id="{B5F73E3E-81F6-47FC-AF74-E29B17D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lide-5-learning-heading-2">
            <a:extLst xmlns:a="http://schemas.openxmlformats.org/drawingml/2006/main">
              <a:ext uri="{FF2B5EF4-FFF2-40B4-BE49-F238E27FC236}">
                <a16:creationId xmlns:a16="http://schemas.microsoft.com/office/drawing/2014/main" id="{E2202869-10D1-4EC3-B00B-C7B2627D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Policy becomes a sequence of choices</a:t>
            </a:r>
          </a:p>
        </p:txBody>
      </p:sp>
      <p:sp>
        <p:nvSpPr>
          <p:cNvPr id="9" name="slide-5-learning-body-2">
            <a:extLst xmlns:a="http://schemas.openxmlformats.org/drawingml/2006/main">
              <a:ext uri="{FF2B5EF4-FFF2-40B4-BE49-F238E27FC236}">
                <a16:creationId xmlns:a16="http://schemas.microsoft.com/office/drawing/2014/main" id="{B80E7379-66C5-42C8-AF1E-4EAA7861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33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Documents from Truman through Ford showed that Vietnam policy developed through cumulative, contested decisions—not one simple turning point.</a:t>
            </a:r>
          </a:p>
        </p:txBody>
      </p:sp>
      <p:sp>
        <p:nvSpPr>
          <p:cNvPr id="10" name="slide-5-column-rule-2">
            <a:extLst xmlns:a="http://schemas.openxmlformats.org/drawingml/2006/main">
              <a:ext uri="{FF2B5EF4-FFF2-40B4-BE49-F238E27FC236}">
                <a16:creationId xmlns:a16="http://schemas.microsoft.com/office/drawing/2014/main" id="{0E05066D-ACEF-4E92-AF1E-D2614619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5-learning-number-3">
            <a:extLst xmlns:a="http://schemas.openxmlformats.org/drawingml/2006/main">
              <a:ext uri="{FF2B5EF4-FFF2-40B4-BE49-F238E27FC236}">
                <a16:creationId xmlns:a16="http://schemas.microsoft.com/office/drawing/2014/main" id="{544A3A62-60B3-4A9D-8F7F-D01B90F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lide-5-learning-heading-3">
            <a:extLst xmlns:a="http://schemas.openxmlformats.org/drawingml/2006/main">
              <a:ext uri="{FF2B5EF4-FFF2-40B4-BE49-F238E27FC236}">
                <a16:creationId xmlns:a16="http://schemas.microsoft.com/office/drawing/2014/main" id="{3ED13A0A-2501-4680-AA7C-2169B2C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Paired sources reveal purpose</a:t>
            </a:r>
          </a:p>
        </p:txBody>
      </p:sp>
      <p:sp>
        <p:nvSpPr>
          <p:cNvPr id="13" name="slide-5-learning-body-3">
            <a:extLst xmlns:a="http://schemas.openxmlformats.org/drawingml/2006/main">
              <a:ext uri="{FF2B5EF4-FFF2-40B4-BE49-F238E27FC236}">
                <a16:creationId xmlns:a16="http://schemas.microsoft.com/office/drawing/2014/main" id="{8607D245-9040-4DFC-8562-6D6F4BF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333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secret memo beside a public speech gives students a concrete way to analyze audience, purpose, omissions, and competing perspectives.</a:t>
            </a:r>
          </a:p>
        </p:txBody>
      </p:sp>
      <p:sp>
        <p:nvSpPr>
          <p:cNvPr id="14" name="slide-5-source-link">
            <a:extLst xmlns:a="http://schemas.openxmlformats.org/drawingml/2006/main">
              <a:ext uri="{FF2B5EF4-FFF2-40B4-BE49-F238E27FC236}">
                <a16:creationId xmlns:a16="http://schemas.microsoft.com/office/drawing/2014/main" id="{1BCC1DF6-E0FC-43FC-B54A-E0035DA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9a3c0d9bf10941be"/>
              </a:rPr>
              <a:t>National Archives recorded educator webinars</a:t>
            </a:r>
          </a:p>
        </p:txBody>
      </p:sp>
      <p:sp>
        <p:nvSpPr>
          <p:cNvPr id="15" name="slide-5-page-number">
            <a:extLst xmlns:a="http://schemas.openxmlformats.org/drawingml/2006/main">
              <a:ext uri="{FF2B5EF4-FFF2-40B4-BE49-F238E27FC236}">
                <a16:creationId xmlns:a16="http://schemas.microsoft.com/office/drawing/2014/main" id="{06A0AFF0-CA9F-4464-AB9F-156FB22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3150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A0DAA64-EB5C-4D28-BAE8-9F77F3B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 can use this immediately in U.S. history and government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5143F8BD-80B7-46B2-BD41-43A2397A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government-panel">
            <a:extLst xmlns:a="http://schemas.openxmlformats.org/drawingml/2006/main">
              <a:ext uri="{FF2B5EF4-FFF2-40B4-BE49-F238E27FC236}">
                <a16:creationId xmlns:a16="http://schemas.microsoft.com/office/drawing/2014/main" id="{5C1E7B2E-7FDB-4A81-89FD-C1C7344E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34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6-history-panel">
            <a:extLst xmlns:a="http://schemas.openxmlformats.org/drawingml/2006/main">
              <a:ext uri="{FF2B5EF4-FFF2-40B4-BE49-F238E27FC236}">
                <a16:creationId xmlns:a16="http://schemas.microsoft.com/office/drawing/2014/main" id="{6076CD8A-888E-4964-897D-A50B46F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55626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government-heading">
            <a:extLst xmlns:a="http://schemas.openxmlformats.org/drawingml/2006/main">
              <a:ext uri="{FF2B5EF4-FFF2-40B4-BE49-F238E27FC236}">
                <a16:creationId xmlns:a16="http://schemas.microsoft.com/office/drawing/2014/main" id="{AA704B23-E801-4BD4-9448-1764A47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12th-grade Government</a:t>
            </a:r>
          </a:p>
        </p:txBody>
      </p:sp>
      <p:sp>
        <p:nvSpPr>
          <p:cNvPr id="6" name="slide-6-government-list">
            <a:extLst xmlns:a="http://schemas.openxmlformats.org/drawingml/2006/main">
              <a:ext uri="{FF2B5EF4-FFF2-40B4-BE49-F238E27FC236}">
                <a16:creationId xmlns:a16="http://schemas.microsoft.com/office/drawing/2014/main" id="{9A3CC208-A35B-4349-AA29-B87E900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667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Begin with a Berryman political-cartoon warm-up.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Have students infer the constitutional principle before reading the relevant clause.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Ask students to update or compare the cartoon to a current issue.</a:t>
            </a:r>
          </a:p>
        </p:txBody>
      </p:sp>
      <p:sp>
        <p:nvSpPr>
          <p:cNvPr id="7" name="slide-6-history-heading">
            <a:extLst xmlns:a="http://schemas.openxmlformats.org/drawingml/2006/main">
              <a:ext uri="{FF2B5EF4-FFF2-40B4-BE49-F238E27FC236}">
                <a16:creationId xmlns:a16="http://schemas.microsoft.com/office/drawing/2014/main" id="{CFF53AAA-4EF8-4874-90DB-46D86809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89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11th-grade U.S. History</a:t>
            </a:r>
          </a:p>
        </p:txBody>
      </p:sp>
      <p:sp>
        <p:nvSpPr>
          <p:cNvPr id="8" name="slide-6-history-list">
            <a:extLst xmlns:a="http://schemas.openxmlformats.org/drawingml/2006/main">
              <a:ext uri="{FF2B5EF4-FFF2-40B4-BE49-F238E27FC236}">
                <a16:creationId xmlns:a16="http://schemas.microsoft.com/office/drawing/2014/main" id="{1C550D7D-36E0-4DFD-A516-A6EFF099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8958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a Vietnam decision-point inquiry across administrations.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Let groups recommend the next step from one source before revealing the outcome.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End with an evidence-based reflection on continuity and change.</a:t>
            </a:r>
          </a:p>
        </p:txBody>
      </p:sp>
      <p:sp>
        <p:nvSpPr>
          <p:cNvPr id="9" name="slide-6-grade-eight-panel">
            <a:extLst xmlns:a="http://schemas.openxmlformats.org/drawingml/2006/main">
              <a:ext uri="{FF2B5EF4-FFF2-40B4-BE49-F238E27FC236}">
                <a16:creationId xmlns:a16="http://schemas.microsoft.com/office/drawing/2014/main" id="{544C8535-A662-4B9C-B7C1-7D94C5E0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1201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6-grade-eight-copy">
            <a:extLst xmlns:a="http://schemas.openxmlformats.org/drawingml/2006/main">
              <a:ext uri="{FF2B5EF4-FFF2-40B4-BE49-F238E27FC236}">
                <a16:creationId xmlns:a16="http://schemas.microsoft.com/office/drawing/2014/main" id="{327C42A7-267D-4AA7-BF92-B9362F2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 8th grade, I can use the novice analysis worksheet, fewer sources, and the same evidence-first structure.</a:t>
            </a:r>
          </a:p>
        </p:txBody>
      </p:sp>
      <p:sp>
        <p:nvSpPr>
          <p:cNvPr id="11" name="slide-6-source-link">
            <a:extLst xmlns:a="http://schemas.openxmlformats.org/drawingml/2006/main">
              <a:ext uri="{FF2B5EF4-FFF2-40B4-BE49-F238E27FC236}">
                <a16:creationId xmlns:a16="http://schemas.microsoft.com/office/drawing/2014/main" id="{629C7230-140F-4E7F-B068-FB0F2152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68df1f6fb7594d46"/>
              </a:rPr>
              <a:t>The War in Vietnam: A Story in Photographs</a:t>
            </a:r>
          </a:p>
        </p:txBody>
      </p:sp>
      <p:sp>
        <p:nvSpPr>
          <p:cNvPr id="12" name="slide-6-page-number">
            <a:extLst xmlns:a="http://schemas.openxmlformats.org/drawingml/2006/main">
              <a:ext uri="{FF2B5EF4-FFF2-40B4-BE49-F238E27FC236}">
                <a16:creationId xmlns:a16="http://schemas.microsoft.com/office/drawing/2014/main" id="{4B61FE50-1ABC-4B7B-B749-8DA3F7E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41479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4DAFDFC-6D9F-4E20-AB9B-3DE7945C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Informal PD worked best when it stayed practical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1BEBA65D-D3B9-421B-86BC-EE6708AB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benefits-heading">
            <a:extLst xmlns:a="http://schemas.openxmlformats.org/drawingml/2006/main">
              <a:ext uri="{FF2B5EF4-FFF2-40B4-BE49-F238E27FC236}">
                <a16:creationId xmlns:a16="http://schemas.microsoft.com/office/drawing/2014/main" id="{EEA92602-5381-4E60-8F09-38DF64F9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4" name="slide-7-challenges-heading">
            <a:extLst xmlns:a="http://schemas.openxmlformats.org/drawingml/2006/main">
              <a:ext uri="{FF2B5EF4-FFF2-40B4-BE49-F238E27FC236}">
                <a16:creationId xmlns:a16="http://schemas.microsoft.com/office/drawing/2014/main" id="{7D94B163-2AF3-40F1-BADA-9FE38BC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Challenges</a:t>
            </a:r>
          </a:p>
        </p:txBody>
      </p:sp>
      <p:sp>
        <p:nvSpPr>
          <p:cNvPr id="5" name="slide-7-center-rule">
            <a:extLst xmlns:a="http://schemas.openxmlformats.org/drawingml/2006/main">
              <a:ext uri="{FF2B5EF4-FFF2-40B4-BE49-F238E27FC236}">
                <a16:creationId xmlns:a16="http://schemas.microsoft.com/office/drawing/2014/main" id="{33D5A81A-CF66-4244-8825-B324FC97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7-benefits-list">
            <a:extLst xmlns:a="http://schemas.openxmlformats.org/drawingml/2006/main">
              <a:ext uri="{FF2B5EF4-FFF2-40B4-BE49-F238E27FC236}">
                <a16:creationId xmlns:a16="http://schemas.microsoft.com/office/drawing/2014/main" id="{BEED2723-6F94-4A2C-8465-BA8C1074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Choice made the learning relevant to my actual courses.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On-demand viewing allowed pausing and replaying.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resources were free and immediately usable.</a:t>
            </a:r>
          </a:p>
        </p:txBody>
      </p:sp>
      <p:sp>
        <p:nvSpPr>
          <p:cNvPr id="7" name="slide-7-challenges-list">
            <a:extLst xmlns:a="http://schemas.openxmlformats.org/drawingml/2006/main">
              <a:ext uri="{FF2B5EF4-FFF2-40B4-BE49-F238E27FC236}">
                <a16:creationId xmlns:a16="http://schemas.microsoft.com/office/drawing/2014/main" id="{996DDCB8-A36D-4C2F-A4B3-8E1C56F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Recorded sessions offered no live feedback or collaboration.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Self-directed learning can become passive without a plan.</a:t>
            </a:r>
          </a:p>
          <a:p xmlns:a="http://schemas.openxmlformats.org/drawingml/2006/main">
            <a:pPr marL="28" indent="-14">
              <a:spcAft>
                <a:spcPts val="15"/>
              </a:spcAft>
              <a:buChar char="•"/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volume of resources can be difficult to narrow down.</a:t>
            </a:r>
          </a:p>
        </p:txBody>
      </p:sp>
      <p:sp>
        <p:nvSpPr>
          <p:cNvPr id="8" name="slide-7-synthesis-panel">
            <a:extLst xmlns:a="http://schemas.openxmlformats.org/drawingml/2006/main">
              <a:ext uri="{FF2B5EF4-FFF2-40B4-BE49-F238E27FC236}">
                <a16:creationId xmlns:a16="http://schemas.microsoft.com/office/drawing/2014/main" id="{4FC1833D-EAFA-4CBC-841F-AAB50FC1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14850"/>
            <a:ext cx="11201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lide-7-synthesis-label">
            <a:extLst xmlns:a="http://schemas.openxmlformats.org/drawingml/2006/main">
              <a:ext uri="{FF2B5EF4-FFF2-40B4-BE49-F238E27FC236}">
                <a16:creationId xmlns:a16="http://schemas.microsoft.com/office/drawing/2014/main" id="{CFC7C31E-7E3F-40A0-A1D3-746B335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FINAL REFLECTION</a:t>
            </a:r>
          </a:p>
        </p:txBody>
      </p:sp>
      <p:sp>
        <p:nvSpPr>
          <p:cNvPr id="10" name="slide-7-synthesis">
            <a:extLst xmlns:a="http://schemas.openxmlformats.org/drawingml/2006/main">
              <a:ext uri="{FF2B5EF4-FFF2-40B4-BE49-F238E27FC236}">
                <a16:creationId xmlns:a16="http://schemas.microsoft.com/office/drawing/2014/main" id="{707D5B0B-2017-48D8-8007-125060A7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64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 experience reinforced my research project: effective technology PD is content-specific, practical, and connected to classroom implementation. What the recordings lacked was the ongoing support and peer feedback that can help teachers apply new ideas over time.</a:t>
            </a:r>
          </a:p>
        </p:txBody>
      </p:sp>
      <p:sp>
        <p:nvSpPr>
          <p:cNvPr id="11" name="slide-7-source-link">
            <a:extLst xmlns:a="http://schemas.openxmlformats.org/drawingml/2006/main">
              <a:ext uri="{FF2B5EF4-FFF2-40B4-BE49-F238E27FC236}">
                <a16:creationId xmlns:a16="http://schemas.microsoft.com/office/drawing/2014/main" id="{C8A0BC34-59D8-41DE-9551-770726F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900" u="sng">
                <a:solidFill>
                  <a:srgbClr val="5B6470"/>
                </a:solidFill>
                <a:latin typeface="Arial"/>
                <a:ea typeface="Arial"/>
                <a:cs typeface="Arial"/>
                <a:hlinkClick xmlns:r="http://schemas.openxmlformats.org/officeDocument/2006/relationships" r:id="R01ed77a4a82b434c"/>
              </a:rPr>
              <a:t>National Archives educator PD and classroom resources</a:t>
            </a:r>
          </a:p>
        </p:txBody>
      </p:sp>
      <p:sp>
        <p:nvSpPr>
          <p:cNvPr id="12" name="slide-7-page-number">
            <a:extLst xmlns:a="http://schemas.openxmlformats.org/drawingml/2006/main">
              <a:ext uri="{FF2B5EF4-FFF2-40B4-BE49-F238E27FC236}">
                <a16:creationId xmlns:a16="http://schemas.microsoft.com/office/drawing/2014/main" id="{1357EDA7-665B-44EB-BA72-228B54C1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31497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2026-07-22T06:31:57.7130000Z</dcterms:created>
  <dcterms:modified xsi:type="dcterms:W3CDTF">2026-07-22T06:31:57.7130000Z</dcterms:modified>
</coreProperties>
</file>